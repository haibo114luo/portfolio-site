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92" autoAdjust="0"/>
  </p:normalViewPr>
  <p:slideViewPr>
    <p:cSldViewPr snapToGrid="0">
      <p:cViewPr varScale="1">
        <p:scale>
          <a:sx n="68" d="100"/>
          <a:sy n="68" d="100"/>
        </p:scale>
        <p:origin x="12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B0694-474F-4A90-801E-4F3EF0D1828E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6D85A-5851-4D96-BCDC-0253D3FEB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33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通过标准化的字段输出，高效构建由报告组成的知识库；对于明确目标结论的场景，由于输出内容严格遵循固定字段，后续的手动量化分析成为可能。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6D85A-5851-4D96-BCDC-0253D3FEB0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440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预处理工作后统一使用</a:t>
            </a:r>
            <a:r>
              <a:rPr lang="en-US" altLang="zh-CN" dirty="0"/>
              <a:t>md</a:t>
            </a:r>
            <a:r>
              <a:rPr lang="zh-CN" altLang="en-US" dirty="0"/>
              <a:t>格式上传，可以稳定让专用</a:t>
            </a:r>
            <a:r>
              <a:rPr lang="en-US" altLang="zh-CN" dirty="0"/>
              <a:t>GPT</a:t>
            </a:r>
            <a:r>
              <a:rPr lang="zh-CN" altLang="en-US" dirty="0"/>
              <a:t>一次性读取超长的文本，后续通过简单指令就可以获取全书的笔记和总结。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6D85A-5851-4D96-BCDC-0253D3FEB0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866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该项目是一个基于 </a:t>
            </a:r>
            <a:r>
              <a:rPr lang="en-US" altLang="zh-CN" dirty="0"/>
              <a:t>Python + Web </a:t>
            </a:r>
            <a:r>
              <a:rPr lang="zh-CN" altLang="en-US" dirty="0"/>
              <a:t>的 </a:t>
            </a:r>
            <a:r>
              <a:rPr lang="zh-CN" altLang="en-US" b="1" dirty="0"/>
              <a:t>德州扑克局域网记分系统</a:t>
            </a:r>
            <a:r>
              <a:rPr lang="zh-CN" altLang="en-US" dirty="0"/>
              <a:t>。整个小程序由后端服务、前端页面和代理服务组成，且使用 </a:t>
            </a:r>
            <a:r>
              <a:rPr lang="en-US" altLang="zh-CN" dirty="0"/>
              <a:t>Flask + SQLite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6D85A-5851-4D96-BCDC-0253D3FEB0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472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5AAE-DA8C-C3A4-D653-1F363415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8074CF-8F33-1ECA-B97E-46E2E161D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565F44-3EB8-4E6A-21EE-858142E90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在实际游戏过程中，可以实现下注、加注、规则查看和最终计分功能。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A6D16-7BE6-EE52-3232-9896F9095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6D85A-5851-4D96-BCDC-0253D3FEB0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98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E0176-B26C-2273-C173-7F39587AD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EB5FB2-F50E-6303-4E87-451D48F14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07693-5CC2-5310-306A-24EBAC8A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7327B6-822E-0E3F-3876-3C088D7F2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678BEE-8A2C-7F0D-7FA5-DE98960F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01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D0D28-C3A4-CE87-6D16-8383C667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FC42A-A642-F32D-9149-274B72CD7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33F3C-D1DD-E1E0-F00E-C4B9C7F8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A382C-39F7-B85B-BFE7-A899B9A0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D51B7F-0966-E592-C7A8-20602239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2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23B97-C98E-6548-39AE-5704BA03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787533-8C1C-CE30-1301-12E669722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4D336-5DCA-5753-459D-6CD6F57A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3FCEDB-ED3B-0619-AA86-B1105BDD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50E4B6-CF1B-527A-FF3C-AD53C3A6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083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63028-6BA7-2790-95F3-E4D42684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07A07-FB16-24D6-B99E-26334F3CF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0C23C1-237B-DBD5-C6CE-93A316290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0621E1-2A03-1213-7991-18B6728D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4E5D5-C931-D29B-C32A-F29494AE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D2076B-69EE-BDB9-9DE6-98760FBC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98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197AD-0431-D665-90B0-D59B7048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E2B75C-5FB7-8032-FB24-2301EA512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91F47-D48D-AC42-4F13-18A0D0F0C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737A3B-7BDD-AF95-B0EC-B38C9C166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FA76C2-2C56-E70B-4F32-DC2EE387C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1C4D24-C454-79D4-ED00-DEB0DC77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663A05-3400-4D4D-7237-53171E56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7222C3-D77B-5671-9FA5-8DF2A340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20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623D0-F6F2-DB5A-EBF9-BE0B1B11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B79D39-9A78-DAC3-F7EC-E83EF357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E2EDCA-0218-2D79-EE55-F7ED3C61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0B71B6-C598-E7B1-B3EB-B96A3F5D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7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62200C-561F-FC56-ED38-8AFC719A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A5D82D-F21D-1669-7482-C4ACD2DE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F50A82-F3EE-1DA9-B90E-306E1F8F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1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0DB17-FAC3-DF5B-B99E-6ECF4E09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A4EF3B-1C4B-37D3-168C-5C6EC261C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CC5A1F-1E15-06CE-DCB6-913F6EC8D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24489F-8ADC-A8B1-FA0E-6965D1F4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A09A7B-0E49-5AB2-1F2C-9BD5A11A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29D6B6-21A1-5A45-19F7-CBBAC4B1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757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7F222-16A9-0E27-C45D-32AA84F9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73480B-A802-D2F9-A656-1ADE858A1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4D489D-AF35-52D0-CA15-592DF3475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FE12E4-A501-F7B4-4307-C0E4065E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4FAFC0-0DBA-3085-232F-6D9FFF78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869170-9C66-852C-D171-28801ECE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74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76CB5-4EDC-C5A3-9442-5B693520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F8326A-25D3-40DB-A79E-BF5A90B1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B32156-C1C5-8387-57FB-82BD66C5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536D1-51B7-B1F6-B581-F2AB235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D0CB5D-CCDB-7BD2-8BE9-FF58BB10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40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404816-CD3F-E190-6526-A6CE5D4FA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66B440-A37F-A382-5CA6-36E07F48C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3F785-CD22-71C2-C110-14D8945D7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7B565E-9C23-A1FE-4888-EDB88847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563F64-18FF-ED6E-C52C-AEF98B2D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85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2787FD-CCE6-50E0-111B-17066948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E94124-D4D0-76DB-433B-B4EA12406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DBB8D-A3AB-64EF-D7B4-3E98F26C7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F8D63-D474-4415-BDDB-957C63F36399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5FD8C8-8D3B-BF4A-E4D2-9ABA587AB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5CFA9-4119-4279-C5EB-29C45110D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EC154-A580-41B4-BCAA-42811177CF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77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B390F-FB7A-A112-C4DD-4FF48DF8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40" y="145383"/>
            <a:ext cx="9568181" cy="754834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利用固定提示词的格式化报告速读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8B2738C-4DF2-506E-7377-BCAF98C28725}"/>
              </a:ext>
            </a:extLst>
          </p:cNvPr>
          <p:cNvSpPr/>
          <p:nvPr/>
        </p:nvSpPr>
        <p:spPr>
          <a:xfrm>
            <a:off x="2910032" y="3689787"/>
            <a:ext cx="649245" cy="319393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6485B0C4-9101-7593-D204-9A9D253DE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41" y="1963532"/>
            <a:ext cx="2514600" cy="3771900"/>
          </a:xfrm>
          <a:prstGeom prst="rect">
            <a:avLst/>
          </a:prstGeom>
        </p:spPr>
      </p:pic>
      <p:pic>
        <p:nvPicPr>
          <p:cNvPr id="19" name="图片 18" descr="图形用户界面&#10;&#10;AI 生成的内容可能不正确。">
            <a:extLst>
              <a:ext uri="{FF2B5EF4-FFF2-40B4-BE49-F238E27FC236}">
                <a16:creationId xmlns:a16="http://schemas.microsoft.com/office/drawing/2014/main" id="{A697149D-C671-E83A-6AEF-166E9E423F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13"/>
          <a:stretch>
            <a:fillRect/>
          </a:stretch>
        </p:blipFill>
        <p:spPr>
          <a:xfrm>
            <a:off x="7776704" y="2261801"/>
            <a:ext cx="4252455" cy="3175360"/>
          </a:xfrm>
          <a:prstGeom prst="rect">
            <a:avLst/>
          </a:prstGeom>
        </p:spPr>
      </p:pic>
      <p:pic>
        <p:nvPicPr>
          <p:cNvPr id="21" name="图片 20" descr="文本&#10;&#10;AI 生成的内容可能不正确。">
            <a:extLst>
              <a:ext uri="{FF2B5EF4-FFF2-40B4-BE49-F238E27FC236}">
                <a16:creationId xmlns:a16="http://schemas.microsoft.com/office/drawing/2014/main" id="{4D38442E-564F-8B1D-7491-FE20FA4AD0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9610"/>
          <a:stretch>
            <a:fillRect/>
          </a:stretch>
        </p:blipFill>
        <p:spPr>
          <a:xfrm>
            <a:off x="4013426" y="1465853"/>
            <a:ext cx="2431322" cy="2223934"/>
          </a:xfrm>
          <a:prstGeom prst="rect">
            <a:avLst/>
          </a:prstGeom>
        </p:spPr>
      </p:pic>
      <p:sp>
        <p:nvSpPr>
          <p:cNvPr id="22" name="箭头: 右 21">
            <a:extLst>
              <a:ext uri="{FF2B5EF4-FFF2-40B4-BE49-F238E27FC236}">
                <a16:creationId xmlns:a16="http://schemas.microsoft.com/office/drawing/2014/main" id="{6B26A2F3-4D62-5C1A-1E56-EEA012E32CFD}"/>
              </a:ext>
            </a:extLst>
          </p:cNvPr>
          <p:cNvSpPr/>
          <p:nvPr/>
        </p:nvSpPr>
        <p:spPr>
          <a:xfrm>
            <a:off x="6894868" y="3734184"/>
            <a:ext cx="649245" cy="319393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91F38574-982F-4129-B163-E075740D7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481" y="3854435"/>
            <a:ext cx="2337159" cy="2661035"/>
          </a:xfrm>
          <a:prstGeom prst="rect">
            <a:avLst/>
          </a:prstGeom>
        </p:spPr>
      </p:pic>
      <p:sp>
        <p:nvSpPr>
          <p:cNvPr id="25" name="标题 1">
            <a:extLst>
              <a:ext uri="{FF2B5EF4-FFF2-40B4-BE49-F238E27FC236}">
                <a16:creationId xmlns:a16="http://schemas.microsoft.com/office/drawing/2014/main" id="{B7BAAEF3-B27D-2C16-492D-E222F8E249F2}"/>
              </a:ext>
            </a:extLst>
          </p:cNvPr>
          <p:cNvSpPr txBox="1">
            <a:spLocks/>
          </p:cNvSpPr>
          <p:nvPr/>
        </p:nvSpPr>
        <p:spPr>
          <a:xfrm>
            <a:off x="162840" y="812801"/>
            <a:ext cx="9568181" cy="570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工作流示意图</a:t>
            </a:r>
          </a:p>
        </p:txBody>
      </p:sp>
    </p:spTree>
    <p:extLst>
      <p:ext uri="{BB962C8B-B14F-4D97-AF65-F5344CB8AC3E}">
        <p14:creationId xmlns:p14="http://schemas.microsoft.com/office/powerpoint/2010/main" val="374699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F5FB1DB-E6B9-ACB7-FD12-3D0C46299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88" y="2178131"/>
            <a:ext cx="5140899" cy="4478308"/>
          </a:xfrm>
        </p:spPr>
        <p:txBody>
          <a:bodyPr>
            <a:normAutofit/>
          </a:bodyPr>
          <a:lstStyle/>
          <a:p>
            <a:pPr algn="l"/>
            <a:r>
              <a:rPr lang="en-US" altLang="zh-CN" sz="1800" dirty="0">
                <a:solidFill>
                  <a:schemeClr val="bg1"/>
                </a:solidFill>
              </a:rPr>
              <a:t>### 3.3 </a:t>
            </a:r>
            <a:r>
              <a:rPr lang="zh-CN" altLang="en-US" sz="1800" dirty="0">
                <a:solidFill>
                  <a:schemeClr val="bg1"/>
                </a:solidFill>
              </a:rPr>
              <a:t>继续扫描状态说明（关键限制）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l"/>
            <a:r>
              <a:rPr lang="zh-CN" altLang="en-US" sz="1800" dirty="0">
                <a:solidFill>
                  <a:schemeClr val="bg1"/>
                </a:solidFill>
              </a:rPr>
              <a:t>当前你上传的</a:t>
            </a:r>
            <a:r>
              <a:rPr lang="en-US" altLang="zh-CN" sz="1800" dirty="0">
                <a:solidFill>
                  <a:schemeClr val="bg1"/>
                </a:solidFill>
              </a:rPr>
              <a:t>PDF</a:t>
            </a:r>
            <a:r>
              <a:rPr lang="zh-CN" altLang="en-US" sz="1800" dirty="0">
                <a:solidFill>
                  <a:schemeClr val="bg1"/>
                </a:solidFill>
              </a:rPr>
              <a:t>在系统侧被识别为</a:t>
            </a:r>
            <a:r>
              <a:rPr lang="zh-CN" altLang="en-US" sz="1800" b="1" u="sng" dirty="0">
                <a:solidFill>
                  <a:srgbClr val="C00000"/>
                </a:solidFill>
              </a:rPr>
              <a:t>**仅</a:t>
            </a:r>
            <a:r>
              <a:rPr lang="en-US" altLang="zh-CN" sz="1800" b="1" u="sng" dirty="0">
                <a:solidFill>
                  <a:srgbClr val="C00000"/>
                </a:solidFill>
              </a:rPr>
              <a:t>20</a:t>
            </a:r>
            <a:r>
              <a:rPr lang="zh-CN" altLang="en-US" sz="1800" b="1" u="sng" dirty="0">
                <a:solidFill>
                  <a:srgbClr val="C00000"/>
                </a:solidFill>
              </a:rPr>
              <a:t>页的纯图片扫描件**</a:t>
            </a:r>
            <a:r>
              <a:rPr lang="zh-CN" altLang="en-US" sz="1800" dirty="0">
                <a:solidFill>
                  <a:schemeClr val="bg1"/>
                </a:solidFill>
              </a:rPr>
              <a:t>，且**无法解析出可检索文本**（即：无法通过文本检索</a:t>
            </a:r>
            <a:r>
              <a:rPr lang="en-US" altLang="zh-CN" sz="1800" dirty="0">
                <a:solidFill>
                  <a:schemeClr val="bg1"/>
                </a:solidFill>
              </a:rPr>
              <a:t>/</a:t>
            </a:r>
            <a:r>
              <a:rPr lang="zh-CN" altLang="en-US" sz="1800" dirty="0">
                <a:solidFill>
                  <a:schemeClr val="bg1"/>
                </a:solidFill>
              </a:rPr>
              <a:t>抽取来定位“上次截断处”之后的段落，也无法稳定生成“页码</a:t>
            </a:r>
            <a:r>
              <a:rPr lang="en-US" altLang="zh-CN" sz="1800" dirty="0">
                <a:solidFill>
                  <a:schemeClr val="bg1"/>
                </a:solidFill>
              </a:rPr>
              <a:t>+</a:t>
            </a:r>
            <a:r>
              <a:rPr lang="zh-CN" altLang="en-US" sz="1800" dirty="0">
                <a:solidFill>
                  <a:schemeClr val="bg1"/>
                </a:solidFill>
              </a:rPr>
              <a:t>原文引句”级别的引用）。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l"/>
            <a:r>
              <a:rPr lang="zh-CN" altLang="en-US" sz="1800" dirty="0">
                <a:solidFill>
                  <a:schemeClr val="bg1"/>
                </a:solidFill>
              </a:rPr>
              <a:t>在“零脑补”与“必须逐条给出页码与原文”的约束下，我</a:t>
            </a:r>
            <a:r>
              <a:rPr lang="zh-CN" altLang="en-US" sz="1800" b="1" u="sng" dirty="0">
                <a:solidFill>
                  <a:srgbClr val="C00000"/>
                </a:solidFill>
              </a:rPr>
              <a:t>不能在未实际读取到后续页面文字内容</a:t>
            </a:r>
            <a:r>
              <a:rPr lang="zh-CN" altLang="en-US" sz="1800" dirty="0">
                <a:solidFill>
                  <a:schemeClr val="bg1"/>
                </a:solidFill>
              </a:rPr>
              <a:t>的情况下，继续对“</a:t>
            </a:r>
            <a:r>
              <a:rPr lang="en-US" altLang="zh-CN" sz="1800" dirty="0">
                <a:solidFill>
                  <a:schemeClr val="bg1"/>
                </a:solidFill>
              </a:rPr>
              <a:t>1978</a:t>
            </a:r>
            <a:r>
              <a:rPr lang="zh-CN" altLang="en-US" sz="1800" dirty="0">
                <a:solidFill>
                  <a:schemeClr val="bg1"/>
                </a:solidFill>
              </a:rPr>
              <a:t>年以前”小节后续段落做扫描式复述与总结。</a:t>
            </a:r>
            <a:r>
              <a:rPr lang="en-US" altLang="zh-CN" sz="1800" dirty="0">
                <a:solidFill>
                  <a:schemeClr val="bg1"/>
                </a:solidFill>
              </a:rPr>
              <a:t>:</a:t>
            </a:r>
            <a:r>
              <a:rPr lang="en-US" altLang="zh-CN" sz="1800" dirty="0" err="1">
                <a:solidFill>
                  <a:schemeClr val="bg1"/>
                </a:solidFill>
              </a:rPr>
              <a:t>contentReference</a:t>
            </a:r>
            <a:r>
              <a:rPr lang="en-US" altLang="zh-CN" sz="1800" dirty="0">
                <a:solidFill>
                  <a:schemeClr val="bg1"/>
                </a:solidFill>
              </a:rPr>
              <a:t>[oaicite:0]{index=0}&gt; </a:t>
            </a:r>
          </a:p>
          <a:p>
            <a:pPr algn="l"/>
            <a:r>
              <a:rPr lang="zh-CN" altLang="en-US" sz="1800" dirty="0">
                <a:solidFill>
                  <a:schemeClr val="bg1"/>
                </a:solidFill>
              </a:rPr>
              <a:t>这也意味着：我无法可靠地从“上次截断的小节”往后逐段摘录原文并标注“来源：第</a:t>
            </a:r>
            <a:r>
              <a:rPr lang="en-US" altLang="zh-CN" sz="1800" dirty="0">
                <a:solidFill>
                  <a:schemeClr val="bg1"/>
                </a:solidFill>
              </a:rPr>
              <a:t>X</a:t>
            </a:r>
            <a:r>
              <a:rPr lang="zh-CN" altLang="en-US" sz="1800" dirty="0">
                <a:solidFill>
                  <a:schemeClr val="bg1"/>
                </a:solidFill>
              </a:rPr>
              <a:t>页”，否则会违反你的“严禁脑补（</a:t>
            </a:r>
            <a:r>
              <a:rPr lang="en-US" altLang="zh-CN" sz="1800" dirty="0">
                <a:solidFill>
                  <a:schemeClr val="bg1"/>
                </a:solidFill>
              </a:rPr>
              <a:t>Zero Hallucination</a:t>
            </a:r>
            <a:r>
              <a:rPr lang="zh-CN" altLang="en-US" sz="1800" dirty="0">
                <a:solidFill>
                  <a:schemeClr val="bg1"/>
                </a:solidFill>
              </a:rPr>
              <a:t>）”要求。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l"/>
            <a:r>
              <a:rPr lang="en-US" altLang="zh-CN" sz="1800" dirty="0">
                <a:solidFill>
                  <a:schemeClr val="bg1"/>
                </a:solidFill>
              </a:rPr>
              <a:t>……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98AC60C7-93E8-F8E3-FB8E-61F46F48657C}"/>
              </a:ext>
            </a:extLst>
          </p:cNvPr>
          <p:cNvSpPr txBox="1">
            <a:spLocks/>
          </p:cNvSpPr>
          <p:nvPr/>
        </p:nvSpPr>
        <p:spPr>
          <a:xfrm>
            <a:off x="6508956" y="2890827"/>
            <a:ext cx="5140899" cy="3052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dirty="0">
                <a:solidFill>
                  <a:schemeClr val="bg1"/>
                </a:solidFill>
              </a:rPr>
              <a:t>——</a:t>
            </a:r>
            <a:r>
              <a:rPr lang="zh-CN" altLang="en-US" sz="1800" dirty="0">
                <a:solidFill>
                  <a:schemeClr val="bg1"/>
                </a:solidFill>
              </a:rPr>
              <a:t>确认可以读取文档，确认原始</a:t>
            </a:r>
            <a:r>
              <a:rPr lang="en-US" altLang="zh-CN" sz="1800" dirty="0">
                <a:solidFill>
                  <a:schemeClr val="bg1"/>
                </a:solidFill>
              </a:rPr>
              <a:t>pdf</a:t>
            </a:r>
            <a:r>
              <a:rPr lang="zh-CN" altLang="en-US" sz="1800" dirty="0">
                <a:solidFill>
                  <a:schemeClr val="bg1"/>
                </a:solidFill>
              </a:rPr>
              <a:t>在转为</a:t>
            </a:r>
            <a:r>
              <a:rPr lang="en-US" altLang="zh-CN" sz="1800" dirty="0">
                <a:solidFill>
                  <a:schemeClr val="bg1"/>
                </a:solidFill>
              </a:rPr>
              <a:t>md</a:t>
            </a:r>
            <a:r>
              <a:rPr lang="zh-CN" altLang="en-US" sz="1800" dirty="0">
                <a:solidFill>
                  <a:schemeClr val="bg1"/>
                </a:solidFill>
              </a:rPr>
              <a:t>之前的页码数</a:t>
            </a:r>
          </a:p>
          <a:p>
            <a:pPr algn="l"/>
            <a:r>
              <a:rPr lang="en-US" altLang="zh-CN" sz="1800" dirty="0">
                <a:solidFill>
                  <a:schemeClr val="bg1"/>
                </a:solidFill>
              </a:rPr>
              <a:t>——</a:t>
            </a:r>
            <a:r>
              <a:rPr lang="zh-CN" altLang="en-US" sz="1800" b="1" u="sng" dirty="0">
                <a:solidFill>
                  <a:srgbClr val="C00000"/>
                </a:solidFill>
              </a:rPr>
              <a:t>可以读取文档</a:t>
            </a:r>
            <a:r>
              <a:rPr lang="zh-CN" altLang="en-US" sz="1800" dirty="0">
                <a:solidFill>
                  <a:schemeClr val="bg1"/>
                </a:solidFill>
              </a:rPr>
              <a:t>：当前已成功检索到该 </a:t>
            </a:r>
            <a:r>
              <a:rPr lang="en-US" altLang="zh-CN" sz="1800" dirty="0">
                <a:solidFill>
                  <a:schemeClr val="bg1"/>
                </a:solidFill>
              </a:rPr>
              <a:t>.md</a:t>
            </a:r>
            <a:r>
              <a:rPr lang="zh-CN" altLang="en-US" sz="1800" dirty="0">
                <a:solidFill>
                  <a:schemeClr val="bg1"/>
                </a:solidFill>
              </a:rPr>
              <a:t> 文件内容，并且文件内保留了逐页分页标记（形如 </a:t>
            </a:r>
            <a:r>
              <a:rPr lang="en-US" altLang="zh-CN" sz="1800" dirty="0">
                <a:solidFill>
                  <a:schemeClr val="bg1"/>
                </a:solidFill>
              </a:rPr>
              <a:t>## </a:t>
            </a:r>
            <a:r>
              <a:rPr lang="zh-CN" altLang="en-US" sz="1800" dirty="0">
                <a:solidFill>
                  <a:schemeClr val="bg1"/>
                </a:solidFill>
              </a:rPr>
              <a:t>第 </a:t>
            </a:r>
            <a:r>
              <a:rPr lang="en-US" altLang="zh-CN" sz="1800" dirty="0">
                <a:solidFill>
                  <a:schemeClr val="bg1"/>
                </a:solidFill>
              </a:rPr>
              <a:t>X </a:t>
            </a:r>
            <a:r>
              <a:rPr lang="zh-CN" altLang="en-US" sz="1800" dirty="0">
                <a:solidFill>
                  <a:schemeClr val="bg1"/>
                </a:solidFill>
              </a:rPr>
              <a:t>页），开头包含 </a:t>
            </a:r>
            <a:r>
              <a:rPr lang="en-US" altLang="zh-CN" sz="1800" dirty="0">
                <a:solidFill>
                  <a:schemeClr val="bg1"/>
                </a:solidFill>
              </a:rPr>
              <a:t>## </a:t>
            </a:r>
            <a:r>
              <a:rPr lang="zh-CN" altLang="en-US" sz="1800" dirty="0">
                <a:solidFill>
                  <a:schemeClr val="bg1"/>
                </a:solidFill>
              </a:rPr>
              <a:t>第 </a:t>
            </a:r>
            <a:r>
              <a:rPr lang="en-US" altLang="zh-CN" sz="1800" dirty="0">
                <a:solidFill>
                  <a:schemeClr val="bg1"/>
                </a:solidFill>
              </a:rPr>
              <a:t>1 </a:t>
            </a:r>
            <a:r>
              <a:rPr lang="zh-CN" altLang="en-US" sz="1800" dirty="0">
                <a:solidFill>
                  <a:schemeClr val="bg1"/>
                </a:solidFill>
              </a:rPr>
              <a:t>页。</a:t>
            </a:r>
          </a:p>
          <a:p>
            <a:pPr algn="l"/>
            <a:r>
              <a:rPr lang="zh-CN" altLang="en-US" sz="1800" dirty="0">
                <a:solidFill>
                  <a:schemeClr val="bg1"/>
                </a:solidFill>
              </a:rPr>
              <a:t>关于“原始 </a:t>
            </a:r>
            <a:r>
              <a:rPr lang="en-US" altLang="zh-CN" sz="1800" dirty="0">
                <a:solidFill>
                  <a:schemeClr val="bg1"/>
                </a:solidFill>
              </a:rPr>
              <a:t>PDF </a:t>
            </a:r>
            <a:r>
              <a:rPr lang="zh-CN" altLang="en-US" sz="1800" dirty="0">
                <a:solidFill>
                  <a:schemeClr val="bg1"/>
                </a:solidFill>
              </a:rPr>
              <a:t>在转为 </a:t>
            </a:r>
            <a:r>
              <a:rPr lang="en-US" altLang="zh-CN" sz="1800" dirty="0">
                <a:solidFill>
                  <a:schemeClr val="bg1"/>
                </a:solidFill>
              </a:rPr>
              <a:t>MD </a:t>
            </a:r>
            <a:r>
              <a:rPr lang="zh-CN" altLang="en-US" sz="1800" dirty="0">
                <a:solidFill>
                  <a:schemeClr val="bg1"/>
                </a:solidFill>
              </a:rPr>
              <a:t>之前的页码数”：在该 </a:t>
            </a:r>
            <a:r>
              <a:rPr lang="en-US" altLang="zh-CN" sz="1800" dirty="0">
                <a:solidFill>
                  <a:schemeClr val="bg1"/>
                </a:solidFill>
              </a:rPr>
              <a:t>MD </a:t>
            </a:r>
            <a:r>
              <a:rPr lang="zh-CN" altLang="en-US" sz="1800" dirty="0">
                <a:solidFill>
                  <a:schemeClr val="bg1"/>
                </a:solidFill>
              </a:rPr>
              <a:t>中能检索到的最大分页标记为 </a:t>
            </a:r>
            <a:r>
              <a:rPr lang="en-US" altLang="zh-CN" sz="1800" dirty="0">
                <a:solidFill>
                  <a:schemeClr val="bg1"/>
                </a:solidFill>
              </a:rPr>
              <a:t>## </a:t>
            </a:r>
            <a:r>
              <a:rPr lang="zh-CN" altLang="en-US" sz="1800" dirty="0">
                <a:solidFill>
                  <a:schemeClr val="bg1"/>
                </a:solidFill>
              </a:rPr>
              <a:t>第 </a:t>
            </a:r>
            <a:r>
              <a:rPr lang="en-US" altLang="zh-CN" sz="1800" dirty="0">
                <a:solidFill>
                  <a:schemeClr val="bg1"/>
                </a:solidFill>
              </a:rPr>
              <a:t>507 </a:t>
            </a:r>
            <a:r>
              <a:rPr lang="zh-CN" altLang="en-US" sz="1800" dirty="0">
                <a:solidFill>
                  <a:schemeClr val="bg1"/>
                </a:solidFill>
              </a:rPr>
              <a:t>页，因此可据此确认</a:t>
            </a:r>
            <a:r>
              <a:rPr lang="zh-CN" altLang="en-US" sz="1800" b="1" u="sng" dirty="0">
                <a:solidFill>
                  <a:srgbClr val="C00000"/>
                </a:solidFill>
              </a:rPr>
              <a:t>原始 </a:t>
            </a:r>
            <a:r>
              <a:rPr lang="en-US" altLang="zh-CN" sz="1800" b="1" u="sng" dirty="0">
                <a:solidFill>
                  <a:srgbClr val="C00000"/>
                </a:solidFill>
              </a:rPr>
              <a:t>PDF </a:t>
            </a:r>
            <a:r>
              <a:rPr lang="zh-CN" altLang="en-US" sz="1800" b="1" u="sng" dirty="0">
                <a:solidFill>
                  <a:srgbClr val="C00000"/>
                </a:solidFill>
              </a:rPr>
              <a:t>的总页数为 </a:t>
            </a:r>
            <a:r>
              <a:rPr lang="en-US" altLang="zh-CN" sz="1800" b="1" u="sng" dirty="0">
                <a:solidFill>
                  <a:srgbClr val="C00000"/>
                </a:solidFill>
              </a:rPr>
              <a:t>507 </a:t>
            </a:r>
            <a:r>
              <a:rPr lang="zh-CN" altLang="en-US" sz="1800" b="1" u="sng" dirty="0">
                <a:solidFill>
                  <a:srgbClr val="C00000"/>
                </a:solidFill>
              </a:rPr>
              <a:t>页</a:t>
            </a:r>
            <a:r>
              <a:rPr lang="zh-CN" altLang="en-US" sz="1800" dirty="0">
                <a:solidFill>
                  <a:schemeClr val="bg1"/>
                </a:solidFill>
              </a:rPr>
              <a:t>（至少转换时的分页序号覆盖到第</a:t>
            </a:r>
            <a:r>
              <a:rPr lang="en-US" altLang="zh-CN" sz="1800" dirty="0">
                <a:solidFill>
                  <a:schemeClr val="bg1"/>
                </a:solidFill>
              </a:rPr>
              <a:t>507</a:t>
            </a:r>
            <a:r>
              <a:rPr lang="zh-CN" altLang="en-US" sz="1800" dirty="0">
                <a:solidFill>
                  <a:schemeClr val="bg1"/>
                </a:solidFill>
              </a:rPr>
              <a:t>页）。</a:t>
            </a:r>
          </a:p>
          <a:p>
            <a:pPr algn="l"/>
            <a:r>
              <a:rPr lang="en-US" altLang="zh-CN" sz="1800" dirty="0">
                <a:solidFill>
                  <a:schemeClr val="bg1"/>
                </a:solidFill>
              </a:rPr>
              <a:t>……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pic>
        <p:nvPicPr>
          <p:cNvPr id="19" name="图片 18" descr="图标&#10;&#10;AI 生成的内容可能不正确。">
            <a:extLst>
              <a:ext uri="{FF2B5EF4-FFF2-40B4-BE49-F238E27FC236}">
                <a16:creationId xmlns:a16="http://schemas.microsoft.com/office/drawing/2014/main" id="{643BBCD0-CEF3-EC68-0701-316843FEC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633" y="342286"/>
            <a:ext cx="1530607" cy="1576434"/>
          </a:xfrm>
          <a:prstGeom prst="rect">
            <a:avLst/>
          </a:prstGeom>
        </p:spPr>
      </p:pic>
      <p:pic>
        <p:nvPicPr>
          <p:cNvPr id="23" name="图片 22" descr="图标&#10;&#10;AI 生成的内容可能不正确。">
            <a:extLst>
              <a:ext uri="{FF2B5EF4-FFF2-40B4-BE49-F238E27FC236}">
                <a16:creationId xmlns:a16="http://schemas.microsoft.com/office/drawing/2014/main" id="{15A0D741-32AE-2A6D-2B71-73041AAC4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922" y="342286"/>
            <a:ext cx="1486966" cy="1576431"/>
          </a:xfrm>
          <a:prstGeom prst="rect">
            <a:avLst/>
          </a:prstGeom>
        </p:spPr>
      </p:pic>
      <p:sp>
        <p:nvSpPr>
          <p:cNvPr id="24" name="箭头: 右 23">
            <a:extLst>
              <a:ext uri="{FF2B5EF4-FFF2-40B4-BE49-F238E27FC236}">
                <a16:creationId xmlns:a16="http://schemas.microsoft.com/office/drawing/2014/main" id="{182D6909-1223-2688-D66D-1E0D2B5CE2B5}"/>
              </a:ext>
            </a:extLst>
          </p:cNvPr>
          <p:cNvSpPr/>
          <p:nvPr/>
        </p:nvSpPr>
        <p:spPr>
          <a:xfrm>
            <a:off x="5456903" y="4259969"/>
            <a:ext cx="1130712" cy="31463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图标&#10;&#10;AI 生成的内容可能不正确。">
            <a:extLst>
              <a:ext uri="{FF2B5EF4-FFF2-40B4-BE49-F238E27FC236}">
                <a16:creationId xmlns:a16="http://schemas.microsoft.com/office/drawing/2014/main" id="{E4A072CD-14B2-38CA-9156-B76F8C87E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7190" y="545823"/>
            <a:ext cx="614362" cy="1338262"/>
          </a:xfrm>
          <a:prstGeom prst="rect">
            <a:avLst/>
          </a:prstGeom>
        </p:spPr>
      </p:pic>
      <p:pic>
        <p:nvPicPr>
          <p:cNvPr id="28" name="图片 27" descr="图标&#10;&#10;AI 生成的内容可能不正确。">
            <a:extLst>
              <a:ext uri="{FF2B5EF4-FFF2-40B4-BE49-F238E27FC236}">
                <a16:creationId xmlns:a16="http://schemas.microsoft.com/office/drawing/2014/main" id="{BF334C5F-77F7-A6E1-7412-C672096640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696" y="824429"/>
            <a:ext cx="676275" cy="781050"/>
          </a:xfrm>
          <a:prstGeom prst="rect">
            <a:avLst/>
          </a:prstGeom>
        </p:spPr>
      </p:pic>
      <p:pic>
        <p:nvPicPr>
          <p:cNvPr id="30" name="图片 29" descr="图标&#10;&#10;AI 生成的内容可能不正确。">
            <a:extLst>
              <a:ext uri="{FF2B5EF4-FFF2-40B4-BE49-F238E27FC236}">
                <a16:creationId xmlns:a16="http://schemas.microsoft.com/office/drawing/2014/main" id="{E681802F-D6A2-7257-7B0F-1D20EDC80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2867" y="1095869"/>
            <a:ext cx="777214" cy="533964"/>
          </a:xfrm>
          <a:prstGeom prst="rect">
            <a:avLst/>
          </a:prstGeom>
        </p:spPr>
      </p:pic>
      <p:pic>
        <p:nvPicPr>
          <p:cNvPr id="32" name="图片 31" descr="图形用户界面, 文本&#10;&#10;AI 生成的内容可能不正确。">
            <a:extLst>
              <a:ext uri="{FF2B5EF4-FFF2-40B4-BE49-F238E27FC236}">
                <a16:creationId xmlns:a16="http://schemas.microsoft.com/office/drawing/2014/main" id="{2311EC93-DD87-7E3A-5E36-A23E93782A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1268" y="559911"/>
            <a:ext cx="1130712" cy="42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8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636D3-0988-42F0-371E-2CDAAB0A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5FC040-4864-D659-F5B5-BAC66E78A7D2}"/>
              </a:ext>
            </a:extLst>
          </p:cNvPr>
          <p:cNvSpPr txBox="1">
            <a:spLocks/>
          </p:cNvSpPr>
          <p:nvPr/>
        </p:nvSpPr>
        <p:spPr>
          <a:xfrm>
            <a:off x="162840" y="145383"/>
            <a:ext cx="9568181" cy="754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bg1"/>
                </a:solidFill>
              </a:rPr>
              <a:t>德州扑克筹码计算小程序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CC78277-0687-1983-DB69-E769CA012B70}"/>
              </a:ext>
            </a:extLst>
          </p:cNvPr>
          <p:cNvSpPr txBox="1">
            <a:spLocks/>
          </p:cNvSpPr>
          <p:nvPr/>
        </p:nvSpPr>
        <p:spPr>
          <a:xfrm>
            <a:off x="162840" y="812801"/>
            <a:ext cx="9568181" cy="570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全栈设计示意图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6B987-E3C1-5DC0-6835-B4DF3967CF5D}"/>
              </a:ext>
            </a:extLst>
          </p:cNvPr>
          <p:cNvSpPr txBox="1"/>
          <p:nvPr/>
        </p:nvSpPr>
        <p:spPr>
          <a:xfrm>
            <a:off x="519289" y="1761067"/>
            <a:ext cx="141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局域网内玩家设备（手机浏览器）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F97611-9C70-6657-C282-7DF75C61C733}"/>
              </a:ext>
            </a:extLst>
          </p:cNvPr>
          <p:cNvSpPr txBox="1"/>
          <p:nvPr/>
        </p:nvSpPr>
        <p:spPr>
          <a:xfrm>
            <a:off x="2105378" y="1986317"/>
            <a:ext cx="1411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HTTP </a:t>
            </a:r>
            <a:r>
              <a:rPr lang="zh-CN" altLang="en-US" dirty="0">
                <a:solidFill>
                  <a:schemeClr val="bg1"/>
                </a:solidFill>
              </a:rPr>
              <a:t>请求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响应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99A6233-193A-8CBF-D4EC-012CA7F0BC05}"/>
              </a:ext>
            </a:extLst>
          </p:cNvPr>
          <p:cNvSpPr/>
          <p:nvPr/>
        </p:nvSpPr>
        <p:spPr>
          <a:xfrm>
            <a:off x="1930400" y="2635955"/>
            <a:ext cx="1761067" cy="2572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6E746B-183C-67F5-E94C-8ACD0B49385F}"/>
              </a:ext>
            </a:extLst>
          </p:cNvPr>
          <p:cNvSpPr txBox="1"/>
          <p:nvPr/>
        </p:nvSpPr>
        <p:spPr>
          <a:xfrm>
            <a:off x="4092220" y="1795725"/>
            <a:ext cx="2037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前端 </a:t>
            </a:r>
            <a:r>
              <a:rPr lang="en-US" altLang="zh-CN" dirty="0">
                <a:solidFill>
                  <a:schemeClr val="bg1"/>
                </a:solidFill>
              </a:rPr>
              <a:t>Static </a:t>
            </a:r>
            <a:r>
              <a:rPr lang="zh-CN" altLang="en-US" dirty="0">
                <a:solidFill>
                  <a:schemeClr val="bg1"/>
                </a:solidFill>
              </a:rPr>
              <a:t>页面 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Index.html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JS </a:t>
            </a:r>
            <a:r>
              <a:rPr lang="zh-CN" altLang="en-US" dirty="0">
                <a:solidFill>
                  <a:schemeClr val="bg1"/>
                </a:solidFill>
              </a:rPr>
              <a:t>交互逻辑 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A1CFFF-8302-AF89-DA2A-E7A62BE88BEA}"/>
              </a:ext>
            </a:extLst>
          </p:cNvPr>
          <p:cNvSpPr txBox="1"/>
          <p:nvPr/>
        </p:nvSpPr>
        <p:spPr>
          <a:xfrm>
            <a:off x="8526782" y="1795198"/>
            <a:ext cx="2037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代理服务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proxy.py 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zh-CN" altLang="en-US" dirty="0">
                <a:solidFill>
                  <a:schemeClr val="bg1"/>
                </a:solidFill>
              </a:rPr>
              <a:t>转发到后端</a:t>
            </a:r>
            <a:r>
              <a:rPr lang="en-US" altLang="zh-CN" dirty="0">
                <a:solidFill>
                  <a:schemeClr val="bg1"/>
                </a:solidFill>
              </a:rPr>
              <a:t>API)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C6BC396-6D77-8A08-E0AA-723B2C3AF3A5}"/>
              </a:ext>
            </a:extLst>
          </p:cNvPr>
          <p:cNvSpPr/>
          <p:nvPr/>
        </p:nvSpPr>
        <p:spPr>
          <a:xfrm>
            <a:off x="6271325" y="2681434"/>
            <a:ext cx="1761067" cy="2572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EFAB2F-532A-E0DA-5E6D-EAC03EC6279F}"/>
              </a:ext>
            </a:extLst>
          </p:cNvPr>
          <p:cNvSpPr txBox="1"/>
          <p:nvPr/>
        </p:nvSpPr>
        <p:spPr>
          <a:xfrm>
            <a:off x="6446302" y="1697705"/>
            <a:ext cx="1411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跨域请求 </a:t>
            </a:r>
            <a:r>
              <a:rPr lang="en-US" altLang="zh-CN" dirty="0">
                <a:solidFill>
                  <a:schemeClr val="bg1"/>
                </a:solidFill>
              </a:rPr>
              <a:t>(AJAX/Web fetch)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6F51DC-8BBE-FE46-B5B1-A6B78E6B2B6E}"/>
              </a:ext>
            </a:extLst>
          </p:cNvPr>
          <p:cNvSpPr txBox="1"/>
          <p:nvPr/>
        </p:nvSpPr>
        <p:spPr>
          <a:xfrm>
            <a:off x="7802318" y="3590294"/>
            <a:ext cx="1411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内部 </a:t>
            </a:r>
            <a:r>
              <a:rPr lang="en-US" altLang="zh-CN" dirty="0">
                <a:solidFill>
                  <a:schemeClr val="bg1"/>
                </a:solidFill>
              </a:rPr>
              <a:t>HTTP </a:t>
            </a:r>
            <a:r>
              <a:rPr lang="zh-CN" altLang="en-US" dirty="0">
                <a:solidFill>
                  <a:schemeClr val="bg1"/>
                </a:solidFill>
              </a:rPr>
              <a:t>转发请求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68614A-F2D8-644E-A8C6-9AEE068CFCF2}"/>
              </a:ext>
            </a:extLst>
          </p:cNvPr>
          <p:cNvSpPr txBox="1"/>
          <p:nvPr/>
        </p:nvSpPr>
        <p:spPr>
          <a:xfrm>
            <a:off x="8526782" y="5092182"/>
            <a:ext cx="2037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游戏后端 </a:t>
            </a:r>
            <a:r>
              <a:rPr lang="en-US" altLang="zh-CN" dirty="0">
                <a:solidFill>
                  <a:schemeClr val="bg1"/>
                </a:solidFill>
              </a:rPr>
              <a:t>API              data.py                             (Flask Web</a:t>
            </a:r>
            <a:r>
              <a:rPr lang="zh-CN" altLang="en-US" dirty="0">
                <a:solidFill>
                  <a:schemeClr val="bg1"/>
                </a:solidFill>
              </a:rPr>
              <a:t>服务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52C9BF10-BABB-F324-F2CC-170207EC0966}"/>
              </a:ext>
            </a:extLst>
          </p:cNvPr>
          <p:cNvSpPr/>
          <p:nvPr/>
        </p:nvSpPr>
        <p:spPr>
          <a:xfrm rot="5400000">
            <a:off x="8653780" y="3755186"/>
            <a:ext cx="1202269" cy="377321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AB2832-E850-A0CD-3C1F-C55372C201EA}"/>
              </a:ext>
            </a:extLst>
          </p:cNvPr>
          <p:cNvSpPr txBox="1"/>
          <p:nvPr/>
        </p:nvSpPr>
        <p:spPr>
          <a:xfrm>
            <a:off x="5298503" y="4818281"/>
            <a:ext cx="1752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SQLite</a:t>
            </a:r>
            <a:r>
              <a:rPr lang="zh-CN" altLang="en-US" dirty="0">
                <a:solidFill>
                  <a:schemeClr val="bg1"/>
                </a:solidFill>
              </a:rPr>
              <a:t>数据库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game_data.db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2" name="图片 21" descr="图形用户界面&#10;&#10;AI 生成的内容可能不正确。">
            <a:extLst>
              <a:ext uri="{FF2B5EF4-FFF2-40B4-BE49-F238E27FC236}">
                <a16:creationId xmlns:a16="http://schemas.microsoft.com/office/drawing/2014/main" id="{F49735CE-C9FA-FA59-91A6-B7879ACF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55" y="2742397"/>
            <a:ext cx="1384815" cy="823726"/>
          </a:xfrm>
          <a:prstGeom prst="rect">
            <a:avLst/>
          </a:prstGeom>
        </p:spPr>
      </p:pic>
      <p:pic>
        <p:nvPicPr>
          <p:cNvPr id="26" name="图片 2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E9C1E17-5960-4695-4447-42DE3F9C0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841" y="2801080"/>
            <a:ext cx="1771650" cy="971550"/>
          </a:xfrm>
          <a:prstGeom prst="rect">
            <a:avLst/>
          </a:prstGeom>
        </p:spPr>
      </p:pic>
      <p:pic>
        <p:nvPicPr>
          <p:cNvPr id="28" name="图片 27" descr="图形用户界面&#10;&#10;AI 生成的内容可能不正确。">
            <a:extLst>
              <a:ext uri="{FF2B5EF4-FFF2-40B4-BE49-F238E27FC236}">
                <a16:creationId xmlns:a16="http://schemas.microsoft.com/office/drawing/2014/main" id="{476C6999-A44A-FC88-BC6F-289E040D6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021" y="3442524"/>
            <a:ext cx="1009650" cy="9906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0D2CA73E-146A-2379-5662-149FED119DE8}"/>
              </a:ext>
            </a:extLst>
          </p:cNvPr>
          <p:cNvSpPr txBox="1"/>
          <p:nvPr/>
        </p:nvSpPr>
        <p:spPr>
          <a:xfrm>
            <a:off x="548921" y="3971459"/>
            <a:ext cx="2967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电脑主机点击批处理文件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PC_launch.bat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一键启动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15FE53-845A-F467-13BD-7F629F25ED94}"/>
              </a:ext>
            </a:extLst>
          </p:cNvPr>
          <p:cNvSpPr/>
          <p:nvPr/>
        </p:nvSpPr>
        <p:spPr>
          <a:xfrm>
            <a:off x="519289" y="3913459"/>
            <a:ext cx="3096835" cy="2521208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左右 32">
            <a:extLst>
              <a:ext uri="{FF2B5EF4-FFF2-40B4-BE49-F238E27FC236}">
                <a16:creationId xmlns:a16="http://schemas.microsoft.com/office/drawing/2014/main" id="{B2F211AA-A70A-0F94-22CF-F3E7962FF139}"/>
              </a:ext>
            </a:extLst>
          </p:cNvPr>
          <p:cNvSpPr/>
          <p:nvPr/>
        </p:nvSpPr>
        <p:spPr>
          <a:xfrm rot="10800000">
            <a:off x="7039822" y="5317355"/>
            <a:ext cx="1202269" cy="377321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 descr="图片包含 QR 代码&#10;&#10;AI 生成的内容可能不正确。">
            <a:extLst>
              <a:ext uri="{FF2B5EF4-FFF2-40B4-BE49-F238E27FC236}">
                <a16:creationId xmlns:a16="http://schemas.microsoft.com/office/drawing/2014/main" id="{1AABEF49-8CAA-93EA-0977-770D65944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0" y="4903082"/>
            <a:ext cx="957803" cy="1205867"/>
          </a:xfrm>
          <a:prstGeom prst="rect">
            <a:avLst/>
          </a:prstGeom>
        </p:spPr>
      </p:pic>
      <p:pic>
        <p:nvPicPr>
          <p:cNvPr id="37" name="图片 36" descr="图标&#10;&#10;AI 生成的内容可能不正确。">
            <a:extLst>
              <a:ext uri="{FF2B5EF4-FFF2-40B4-BE49-F238E27FC236}">
                <a16:creationId xmlns:a16="http://schemas.microsoft.com/office/drawing/2014/main" id="{D92E8ACB-8FB1-8C00-53E6-B721842506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2562" y="5501277"/>
            <a:ext cx="1013519" cy="108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8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DFB48-DF0E-5EA7-0704-D90491DC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286129A-A0FC-D8EC-E71F-AAB1BA0A5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37" y="1689766"/>
            <a:ext cx="2753078" cy="2506340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934F03E5-A948-7A3B-7850-DEA8875A2B4F}"/>
              </a:ext>
            </a:extLst>
          </p:cNvPr>
          <p:cNvSpPr/>
          <p:nvPr/>
        </p:nvSpPr>
        <p:spPr>
          <a:xfrm>
            <a:off x="3327448" y="3487355"/>
            <a:ext cx="649245" cy="319393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形用户界面&#10;&#10;AI 生成的内容可能不正确。">
            <a:extLst>
              <a:ext uri="{FF2B5EF4-FFF2-40B4-BE49-F238E27FC236}">
                <a16:creationId xmlns:a16="http://schemas.microsoft.com/office/drawing/2014/main" id="{0A293702-B2F3-367F-3447-1CE666BB10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543"/>
          <a:stretch>
            <a:fillRect/>
          </a:stretch>
        </p:blipFill>
        <p:spPr>
          <a:xfrm>
            <a:off x="8908695" y="251150"/>
            <a:ext cx="3095625" cy="971551"/>
          </a:xfrm>
          <a:prstGeom prst="rect">
            <a:avLst/>
          </a:prstGeom>
        </p:spPr>
      </p:pic>
      <p:pic>
        <p:nvPicPr>
          <p:cNvPr id="14" name="图片 13" descr="日历&#10;&#10;AI 生成的内容可能不正确。">
            <a:extLst>
              <a:ext uri="{FF2B5EF4-FFF2-40B4-BE49-F238E27FC236}">
                <a16:creationId xmlns:a16="http://schemas.microsoft.com/office/drawing/2014/main" id="{F15003D1-CD05-64CD-5FC2-BD4ABA1C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009" y="1343478"/>
            <a:ext cx="3961008" cy="4926541"/>
          </a:xfrm>
          <a:prstGeom prst="rect">
            <a:avLst/>
          </a:prstGeom>
        </p:spPr>
      </p:pic>
      <p:sp>
        <p:nvSpPr>
          <p:cNvPr id="17" name="箭头: 右 16">
            <a:extLst>
              <a:ext uri="{FF2B5EF4-FFF2-40B4-BE49-F238E27FC236}">
                <a16:creationId xmlns:a16="http://schemas.microsoft.com/office/drawing/2014/main" id="{0A4B861E-C74E-CD03-5976-4257CE348077}"/>
              </a:ext>
            </a:extLst>
          </p:cNvPr>
          <p:cNvSpPr/>
          <p:nvPr/>
        </p:nvSpPr>
        <p:spPr>
          <a:xfrm rot="5400000">
            <a:off x="10034405" y="1508404"/>
            <a:ext cx="649245" cy="319393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表格&#10;&#10;AI 生成的内容可能不正确。">
            <a:extLst>
              <a:ext uri="{FF2B5EF4-FFF2-40B4-BE49-F238E27FC236}">
                <a16:creationId xmlns:a16="http://schemas.microsoft.com/office/drawing/2014/main" id="{BA48636C-B52B-20D8-3F50-9C444CB45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8695" y="2121607"/>
            <a:ext cx="3105150" cy="1495425"/>
          </a:xfrm>
          <a:prstGeom prst="rect">
            <a:avLst/>
          </a:prstGeom>
        </p:spPr>
      </p:pic>
      <p:sp>
        <p:nvSpPr>
          <p:cNvPr id="21" name="箭头: 右 20">
            <a:extLst>
              <a:ext uri="{FF2B5EF4-FFF2-40B4-BE49-F238E27FC236}">
                <a16:creationId xmlns:a16="http://schemas.microsoft.com/office/drawing/2014/main" id="{5B034B53-E46E-4A06-D1D8-209A7A3F6B0A}"/>
              </a:ext>
            </a:extLst>
          </p:cNvPr>
          <p:cNvSpPr/>
          <p:nvPr/>
        </p:nvSpPr>
        <p:spPr>
          <a:xfrm rot="5400000">
            <a:off x="11024144" y="4251204"/>
            <a:ext cx="649245" cy="319393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文本&#10;&#10;AI 生成的内容可能不正确。">
            <a:extLst>
              <a:ext uri="{FF2B5EF4-FFF2-40B4-BE49-F238E27FC236}">
                <a16:creationId xmlns:a16="http://schemas.microsoft.com/office/drawing/2014/main" id="{32EB95F2-283C-FCCC-1462-64292F246E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382" y="4002098"/>
            <a:ext cx="2581275" cy="733425"/>
          </a:xfrm>
          <a:prstGeom prst="rect">
            <a:avLst/>
          </a:prstGeom>
        </p:spPr>
      </p:pic>
      <p:pic>
        <p:nvPicPr>
          <p:cNvPr id="33" name="图片 32" descr="图形用户界面, 文本&#10;&#10;AI 生成的内容可能不正确。">
            <a:extLst>
              <a:ext uri="{FF2B5EF4-FFF2-40B4-BE49-F238E27FC236}">
                <a16:creationId xmlns:a16="http://schemas.microsoft.com/office/drawing/2014/main" id="{E2EF77A0-4D62-5BE8-10FD-399727CC07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9645" y="4943022"/>
            <a:ext cx="3114675" cy="11430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187F8AAE-9BF5-9997-F980-736EB705FB96}"/>
              </a:ext>
            </a:extLst>
          </p:cNvPr>
          <p:cNvSpPr txBox="1"/>
          <p:nvPr/>
        </p:nvSpPr>
        <p:spPr>
          <a:xfrm>
            <a:off x="624420" y="1158812"/>
            <a:ext cx="203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注册界面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66F60DA-2D71-68CE-ADDA-52F67D6E5047}"/>
              </a:ext>
            </a:extLst>
          </p:cNvPr>
          <p:cNvSpPr txBox="1"/>
          <p:nvPr/>
        </p:nvSpPr>
        <p:spPr>
          <a:xfrm>
            <a:off x="4197868" y="574037"/>
            <a:ext cx="203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筹码和底池记录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7A55D6-A060-6C5A-C471-B087604A6FE0}"/>
              </a:ext>
            </a:extLst>
          </p:cNvPr>
          <p:cNvSpPr txBox="1"/>
          <p:nvPr/>
        </p:nvSpPr>
        <p:spPr>
          <a:xfrm>
            <a:off x="7543533" y="204705"/>
            <a:ext cx="1344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分数统计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75168A-D2EF-E691-A127-6AEE1C8461D7}"/>
              </a:ext>
            </a:extLst>
          </p:cNvPr>
          <p:cNvSpPr/>
          <p:nvPr/>
        </p:nvSpPr>
        <p:spPr>
          <a:xfrm>
            <a:off x="519289" y="4735523"/>
            <a:ext cx="3096835" cy="169914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7D99294-7FC3-0F9D-714F-D97DB7813292}"/>
              </a:ext>
            </a:extLst>
          </p:cNvPr>
          <p:cNvSpPr txBox="1"/>
          <p:nvPr/>
        </p:nvSpPr>
        <p:spPr>
          <a:xfrm>
            <a:off x="739420" y="5168234"/>
            <a:ext cx="258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旨在解决德州扑克筹码无法随身携带的问题</a:t>
            </a:r>
          </a:p>
        </p:txBody>
      </p:sp>
    </p:spTree>
    <p:extLst>
      <p:ext uri="{BB962C8B-B14F-4D97-AF65-F5344CB8AC3E}">
        <p14:creationId xmlns:p14="http://schemas.microsoft.com/office/powerpoint/2010/main" val="2438584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540</Words>
  <Application>Microsoft Office PowerPoint</Application>
  <PresentationFormat>宽屏</PresentationFormat>
  <Paragraphs>41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利用固定提示词的格式化报告速读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Zhao</dc:creator>
  <cp:lastModifiedBy>Leo Zhao</cp:lastModifiedBy>
  <cp:revision>12</cp:revision>
  <dcterms:created xsi:type="dcterms:W3CDTF">2026-02-19T11:54:41Z</dcterms:created>
  <dcterms:modified xsi:type="dcterms:W3CDTF">2026-02-19T13:04:10Z</dcterms:modified>
</cp:coreProperties>
</file>